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Outfit"/>
      <p:regular r:id="rId26"/>
      <p:bold r:id="rId27"/>
    </p:embeddedFont>
    <p:embeddedFont>
      <p:font typeface="Outfit SemiBold"/>
      <p:regular r:id="rId28"/>
      <p:bold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-regular.fntdata"/><Relationship Id="rId25" Type="http://schemas.openxmlformats.org/officeDocument/2006/relationships/slide" Target="slides/slide20.xml"/><Relationship Id="rId28" Type="http://schemas.openxmlformats.org/officeDocument/2006/relationships/font" Target="fonts/OutfitSemiBold-regular.fntdata"/><Relationship Id="rId27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utfi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10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48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11" Type="http://schemas.openxmlformats.org/officeDocument/2006/relationships/image" Target="../media/image46.png"/><Relationship Id="rId10" Type="http://schemas.openxmlformats.org/officeDocument/2006/relationships/image" Target="../media/image47.png"/><Relationship Id="rId9" Type="http://schemas.openxmlformats.org/officeDocument/2006/relationships/image" Target="../media/image27.png"/><Relationship Id="rId5" Type="http://schemas.openxmlformats.org/officeDocument/2006/relationships/image" Target="../media/image40.png"/><Relationship Id="rId6" Type="http://schemas.openxmlformats.org/officeDocument/2006/relationships/image" Target="../media/image35.png"/><Relationship Id="rId7" Type="http://schemas.openxmlformats.org/officeDocument/2006/relationships/image" Target="../media/image41.png"/><Relationship Id="rId8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42.png"/><Relationship Id="rId5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36.png"/><Relationship Id="rId7" Type="http://schemas.openxmlformats.org/officeDocument/2006/relationships/image" Target="../media/image45.png"/><Relationship Id="rId8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53.png"/><Relationship Id="rId7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50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57.png"/><Relationship Id="rId8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51" y="2301375"/>
            <a:ext cx="11581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1" lang="en-US" sz="6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BEGINNING</a:t>
            </a:r>
            <a:r>
              <a:rPr b="1" i="0" lang="en-US" sz="6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OF </a:t>
            </a:r>
            <a:br>
              <a:rPr b="1" i="0" lang="en-US" sz="6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i="0" lang="en-US" sz="6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r>
              <a:rPr b="1" lang="en-US" sz="63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RTIFICIAL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n-US" sz="6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INTELLIGENCE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81000" y="4187325"/>
            <a:ext cx="110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From Human Evolution to Silicon Minds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81025" y="6238875"/>
            <a:ext cx="952500" cy="381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3860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3143250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HUMANS HAVE ALWAYS DREAMED...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3676650"/>
            <a:ext cx="522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For thousands of years, we've looked at </a:t>
            </a:r>
            <a:r>
              <a:rPr lang="en-US" sz="16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ourselves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and our own reflection, asking: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Can we create something as brilliant as ourselves?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4810125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This isn't just about computers. It's about the journey of humanity trying to build a mirror for the mind.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395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QUEST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581025" y="244792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CHAPTER ONE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05276" y="2762250"/>
            <a:ext cx="11581447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INTELLIGENCE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4857750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Why are we the dominant species on Earth?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40" l="0" r="0" t="30"/>
          <a:stretch/>
        </p:blipFill>
        <p:spPr>
          <a:xfrm>
            <a:off x="581025" y="2386012"/>
            <a:ext cx="5229225" cy="3807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95537"/>
            <a:ext cx="18859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6381750" y="3176587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Intelligence isn't just about knowing facts. It is the ability to: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6381750" y="3995737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Learn: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Absorbing new information.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381750" y="4348162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Adapt: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Surviving in new environments.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381750" y="4700587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Reason: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Solving complex problems.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381750" y="5053012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Remember: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Using history to guide the future.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19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71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7244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50768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INTELLIGENCE?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676650"/>
            <a:ext cx="110299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908" y="3971925"/>
            <a:ext cx="15716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9142" y="3971925"/>
            <a:ext cx="13716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351" y="3971925"/>
            <a:ext cx="15811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79109" y="3971925"/>
            <a:ext cx="13335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86218" y="3971925"/>
            <a:ext cx="11715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81025" y="279082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How a child learns, how a doctor heals, and how a pilot flies—all follow one cycle.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547687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5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If this loop is so powerful, can we build it into machines?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20900" y="41767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66109" y="41767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0867" y="41767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7976" y="417671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INTELLIGENCE LOOP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581025" y="2447925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305276" y="2762250"/>
            <a:ext cx="11581447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DREAM OF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ARTIFICIAL MIND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81025" y="4857750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Humanity's first attempts at mechanical thoughts.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3860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81025" y="2514600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ALAN TURING (1950)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81025" y="3048000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"Can machines think?" - This question changed everything. Turing envisioned a machine that could mimic any human response perfectly.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81025" y="4276725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DARTMOUTH (1956)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81025" y="4810125"/>
            <a:ext cx="522922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term "Artificial Intelligence" was born. A group of scientists gathered to spend a summer trying to solve intelligence in two months. They were wrong about the time, but right about the vision.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395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MILESTONES OF THE DREAM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476750"/>
            <a:ext cx="41719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809625" y="1152525"/>
            <a:ext cx="41405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AI?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81025" y="11525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81025" y="2114550"/>
            <a:ext cx="4171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 the simplest terms, Artificial Intelligence is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machines performing tasks that normally require human intelligence.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81025" y="3248025"/>
            <a:ext cx="4172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It's not just "one thing." It is a collection of tools that allow software to see, hear, talk, and decide</a:t>
            </a:r>
            <a:r>
              <a:rPr lang="en-US" sz="16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and act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876300" y="4772025"/>
            <a:ext cx="35814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Visual Perception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876300" y="5124450"/>
            <a:ext cx="358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Language</a:t>
            </a:r>
            <a:r>
              <a:rPr lang="en-US" sz="15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Understanding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876300" y="5476875"/>
            <a:ext cx="358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Conversation </a:t>
            </a:r>
            <a:endParaRPr/>
          </a:p>
        </p:txBody>
      </p:sp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7958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514826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55006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24475" y="9525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581025" y="292417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CHAPTER THREE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305276" y="3238500"/>
            <a:ext cx="1158144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GAP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81025" y="4381500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Why today's AI isn't "True" intelligence... yet.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762500"/>
            <a:ext cx="110299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0985" y="5057775"/>
            <a:ext cx="1771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0277" y="5057775"/>
            <a:ext cx="21336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1518" y="5057775"/>
            <a:ext cx="26289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581025" y="2400300"/>
            <a:ext cx="54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</a:t>
            </a:r>
            <a:r>
              <a:rPr b="1" lang="en-US" sz="2400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NI </a:t>
            </a: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(NARROW)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81025" y="2933700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Today's AI.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It is an expert in ONE thing. A Chess AI cannot write a poem. A face-recognition system cannot drive a car.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81025" y="3971925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Focused. Precise. Limited.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381750" y="2400300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AGI (GENERAL)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6381750" y="2933700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Human-like AI.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 system that can learn anything, adapt to any situation, and transfer knowledge from one domain to another.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381750" y="3971925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000FF"/>
                </a:solidFill>
                <a:latin typeface="Outfit"/>
                <a:ea typeface="Outfit"/>
                <a:cs typeface="Outfit"/>
                <a:sym typeface="Outfit"/>
              </a:rPr>
              <a:t>Versatile. Conscious. Hypothetical.</a:t>
            </a:r>
            <a:endParaRPr/>
          </a:p>
        </p:txBody>
      </p:sp>
      <p:pic>
        <p:nvPicPr>
          <p:cNvPr descr="image.png" id="196" name="Google Shape;19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2156" y="52625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3398" y="52625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NARROW VS GENERAL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/>
        </p:nvSpPr>
        <p:spPr>
          <a:xfrm>
            <a:off x="581025" y="244792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CHAPTER FOUR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305276" y="2762250"/>
            <a:ext cx="11581447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REVOLUTION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OF LEARNING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81025" y="4857750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When we stopped giving orders and started giving examples.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3860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81025" y="3324225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OLD PROGRAMMING: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581025" y="3857625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If (Has Ears) AND (Has Whiskers) AND (Is Furry) THEN (It's a Cat).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581025" y="4629150"/>
            <a:ext cx="5229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0055"/>
                </a:solidFill>
                <a:latin typeface="Outfit"/>
                <a:ea typeface="Outfit"/>
                <a:cs typeface="Outfit"/>
                <a:sym typeface="Outfit"/>
              </a:rPr>
              <a:t>Problem:</a:t>
            </a:r>
            <a:r>
              <a:rPr b="0" i="0" lang="en-US" sz="1650" u="none" cap="none" strike="noStrike">
                <a:solidFill>
                  <a:srgbClr val="FF0055"/>
                </a:solidFill>
                <a:latin typeface="Outfit"/>
                <a:ea typeface="Outfit"/>
                <a:cs typeface="Outfit"/>
                <a:sym typeface="Outfit"/>
              </a:rPr>
              <a:t> What if the cat is behind a box? Or if it's a dog with whiskers? </a:t>
            </a:r>
            <a:r>
              <a:rPr lang="en-US" sz="1650">
                <a:solidFill>
                  <a:srgbClr val="FF0055"/>
                </a:solidFill>
                <a:latin typeface="Outfit"/>
                <a:ea typeface="Outfit"/>
                <a:cs typeface="Outfit"/>
                <a:sym typeface="Outfit"/>
              </a:rPr>
              <a:t>Handwriting</a:t>
            </a:r>
            <a:r>
              <a:rPr b="0" i="0" lang="en-US" sz="1650" u="none" cap="none" strike="noStrike">
                <a:solidFill>
                  <a:srgbClr val="FF0055"/>
                </a:solidFill>
                <a:latin typeface="Outfit"/>
                <a:ea typeface="Outfit"/>
                <a:cs typeface="Outfit"/>
                <a:sym typeface="Outfit"/>
              </a:rPr>
              <a:t> every rule is impossible.</a:t>
            </a:r>
            <a:endParaRPr/>
          </a:p>
        </p:txBody>
      </p:sp>
      <p:pic>
        <p:nvPicPr>
          <p:cNvPr descr="image.png" id="215" name="Google Shape;21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395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"CAT" PROBLEM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860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95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 txBox="1"/>
          <p:nvPr/>
        </p:nvSpPr>
        <p:spPr>
          <a:xfrm>
            <a:off x="6381750" y="3409950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Arthur Samuel built a checkers-playing program. He didn't teach it how to win; he taught it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how to learn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6381750" y="4229100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By playing thousands of games against itself, the program eventually beat Samuel himself. This was the birth of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Machine Learning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ARTHUR SAMUEL (1959)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529012"/>
            <a:ext cx="110299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530" y="3824287"/>
            <a:ext cx="13620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077" y="3824287"/>
            <a:ext cx="22955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0074" y="3824287"/>
            <a:ext cx="22098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6"/>
          <p:cNvSpPr txBox="1"/>
          <p:nvPr/>
        </p:nvSpPr>
        <p:spPr>
          <a:xfrm>
            <a:off x="581025" y="2557462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Learning patterns from data instead of following manual rules.</a:t>
            </a:r>
            <a:endParaRPr/>
          </a:p>
        </p:txBody>
      </p:sp>
      <p:pic>
        <p:nvPicPr>
          <p:cNvPr descr="image.png" id="237" name="Google Shape;23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95712" y="53292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/>
        </p:nvSpPr>
        <p:spPr>
          <a:xfrm>
            <a:off x="3233737" y="5710237"/>
            <a:ext cx="1504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Spam Detection</a:t>
            </a:r>
            <a:endParaRPr/>
          </a:p>
        </p:txBody>
      </p:sp>
      <p:pic>
        <p:nvPicPr>
          <p:cNvPr descr="image.png" id="239" name="Google Shape;23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05512" y="53292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/>
        </p:nvSpPr>
        <p:spPr>
          <a:xfrm>
            <a:off x="5310187" y="5710237"/>
            <a:ext cx="1771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Netflix Suggestions</a:t>
            </a:r>
            <a:endParaRPr/>
          </a:p>
        </p:txBody>
      </p:sp>
      <p:pic>
        <p:nvPicPr>
          <p:cNvPr descr="image.png" id="241" name="Google Shape;24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7675" y="53292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7653337" y="5710237"/>
            <a:ext cx="1304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Weather Prep</a:t>
            </a:r>
            <a:endParaRPr/>
          </a:p>
        </p:txBody>
      </p:sp>
      <p:pic>
        <p:nvPicPr>
          <p:cNvPr descr="image.png" id="243" name="Google Shape;243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84066" y="4029075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50063" y="4029075"/>
            <a:ext cx="209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MACHINE LEARNING?</a:t>
            </a:r>
            <a:endParaRPr/>
          </a:p>
        </p:txBody>
      </p:sp>
      <p:sp>
        <p:nvSpPr>
          <p:cNvPr id="246" name="Google Shape;246;p26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5" y="2147887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67012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0" y="3433762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7"/>
          <p:cNvSpPr txBox="1"/>
          <p:nvPr/>
        </p:nvSpPr>
        <p:spPr>
          <a:xfrm>
            <a:off x="5133975" y="2309812"/>
            <a:ext cx="192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ARTIFICIAL INTELLIGENCE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5362575" y="2928937"/>
            <a:ext cx="1466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MACHINE LEARNING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5500687" y="3595687"/>
            <a:ext cx="1190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DEEP LEARNING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AI FAMILY TREE</a:t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3860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29087"/>
            <a:ext cx="522922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 txBox="1"/>
          <p:nvPr/>
        </p:nvSpPr>
        <p:spPr>
          <a:xfrm>
            <a:off x="581025" y="2900362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Deep Learning is a specialized type of ML. It uses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Neural Networks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—layers of connections inspired by human biology.</a:t>
            </a:r>
            <a:endParaRPr/>
          </a:p>
        </p:txBody>
      </p:sp>
      <p:pic>
        <p:nvPicPr>
          <p:cNvPr descr="image.png" id="266" name="Google Shape;26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95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/>
        </p:nvSpPr>
        <p:spPr>
          <a:xfrm>
            <a:off x="876300" y="4424362"/>
            <a:ext cx="463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Input Layer (Pixels)</a:t>
            </a:r>
            <a:endParaRPr/>
          </a:p>
        </p:txBody>
      </p:sp>
      <p:sp>
        <p:nvSpPr>
          <p:cNvPr id="268" name="Google Shape;268;p28"/>
          <p:cNvSpPr txBox="1"/>
          <p:nvPr/>
        </p:nvSpPr>
        <p:spPr>
          <a:xfrm>
            <a:off x="876300" y="4681537"/>
            <a:ext cx="463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Hidden Layers (Pattern Recognition)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876300" y="4938712"/>
            <a:ext cx="463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Output Layer ("It's a Cat!")</a:t>
            </a:r>
            <a:endParaRPr/>
          </a:p>
        </p:txBody>
      </p:sp>
      <p:pic>
        <p:nvPicPr>
          <p:cNvPr descr="image.png" id="270" name="Google Shape;27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47198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47291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98633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 LEARNING: INSPIRED BY THE BRAIN</a:t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586162"/>
            <a:ext cx="34861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3586162"/>
            <a:ext cx="34861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4825" y="3586162"/>
            <a:ext cx="34861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 txBox="1"/>
          <p:nvPr/>
        </p:nvSpPr>
        <p:spPr>
          <a:xfrm>
            <a:off x="581025" y="2605087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AI existed in 1950. Why is it exploding NOW?</a:t>
            </a:r>
            <a:endParaRPr/>
          </a:p>
        </p:txBody>
      </p:sp>
      <p:pic>
        <p:nvPicPr>
          <p:cNvPr descr="image.png" id="283" name="Google Shape;28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4550" y="38814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/>
        </p:nvSpPr>
        <p:spPr>
          <a:xfrm>
            <a:off x="803910" y="4500562"/>
            <a:ext cx="30403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BIG DATA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876300" y="50339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We finally have enough examples to teach machines.</a:t>
            </a:r>
            <a:endParaRPr/>
          </a:p>
        </p:txBody>
      </p:sp>
      <p:pic>
        <p:nvPicPr>
          <p:cNvPr descr="image.png" id="286" name="Google Shape;28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75" y="3881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 txBox="1"/>
          <p:nvPr/>
        </p:nvSpPr>
        <p:spPr>
          <a:xfrm>
            <a:off x="4575810" y="4500562"/>
            <a:ext cx="30403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POWERFUL GPUS</a:t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4648200" y="5033962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Computing power that fits in our hands.</a:t>
            </a:r>
            <a:endParaRPr/>
          </a:p>
        </p:txBody>
      </p:sp>
      <p:pic>
        <p:nvPicPr>
          <p:cNvPr descr="image.png" id="289" name="Google Shape;28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8350" y="38814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8347710" y="4500562"/>
            <a:ext cx="30403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BETTER MATH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8420100" y="50339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New algorithms discovered in the last 10 years.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PERFECT STORM</a:t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860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95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/>
        </p:nvSpPr>
        <p:spPr>
          <a:xfrm>
            <a:off x="6381750" y="3333750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AI is transforming every industry on Earth: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6381750" y="3838575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Healthcare: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AI Diagnosing Cancer early.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6381750" y="4191000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Coding: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AI assistants writing software.</a:t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6381750" y="4543425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Art: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AI generating stunning images and text.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6381750" y="4895850"/>
            <a:ext cx="522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Science: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AI predicting protein structures.</a:t>
            </a:r>
            <a:endParaRPr/>
          </a:p>
        </p:txBody>
      </p:sp>
      <p:pic>
        <p:nvPicPr>
          <p:cNvPr descr="image.png" id="305" name="Google Shape;30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62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148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5672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9196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 txBox="1"/>
          <p:nvPr/>
        </p:nvSpPr>
        <p:spPr>
          <a:xfrm>
            <a:off x="809625" y="134302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REVOLUTION IS HERE</a:t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581025" y="134302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727400"/>
            <a:ext cx="110299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/>
          <p:nvPr/>
        </p:nvSpPr>
        <p:spPr>
          <a:xfrm>
            <a:off x="581025" y="2612975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7" name="Google Shape;31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3667625"/>
            <a:ext cx="11010900" cy="27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/>
          <p:nvPr/>
        </p:nvSpPr>
        <p:spPr>
          <a:xfrm>
            <a:off x="1516558" y="2803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590550" y="2641550"/>
            <a:ext cx="202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Personalization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638175" y="2965400"/>
            <a:ext cx="1928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Every student gets a personal AI tutor.</a:t>
            </a: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4531369" y="2803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3702726" y="2641550"/>
            <a:ext cx="192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Discovery</a:t>
            </a:r>
            <a:endParaRPr/>
          </a:p>
        </p:txBody>
      </p:sp>
      <p:sp>
        <p:nvSpPr>
          <p:cNvPr id="323" name="Google Shape;323;p31"/>
          <p:cNvSpPr txBox="1"/>
          <p:nvPr/>
        </p:nvSpPr>
        <p:spPr>
          <a:xfrm>
            <a:off x="3740875" y="3041600"/>
            <a:ext cx="1840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AI discovering new clean energy sources.</a:t>
            </a:r>
            <a:endParaRPr/>
          </a:p>
        </p:txBody>
      </p:sp>
      <p:sp>
        <p:nvSpPr>
          <p:cNvPr id="324" name="Google Shape;324;p31"/>
          <p:cNvSpPr/>
          <p:nvPr/>
        </p:nvSpPr>
        <p:spPr>
          <a:xfrm>
            <a:off x="7546181" y="2803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6717550" y="2641550"/>
            <a:ext cx="192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5FF"/>
                </a:solidFill>
                <a:latin typeface="Outfit"/>
                <a:ea typeface="Outfit"/>
                <a:cs typeface="Outfit"/>
                <a:sym typeface="Outfit"/>
              </a:rPr>
              <a:t>Robotics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6755824" y="2965400"/>
            <a:ext cx="1840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AI-powered robots helping in our homes.</a:t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10560992" y="2803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9575825" y="2641550"/>
            <a:ext cx="208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000FF"/>
                </a:solidFill>
                <a:latin typeface="Outfit"/>
                <a:ea typeface="Outfit"/>
                <a:cs typeface="Outfit"/>
                <a:sym typeface="Outfit"/>
              </a:rPr>
              <a:t>The AGI Horizon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9770625" y="2864675"/>
            <a:ext cx="1840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True human-level reasoning machines.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809625" y="1127075"/>
            <a:ext cx="1134141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COMES NEXT?</a:t>
            </a:r>
            <a:endParaRPr/>
          </a:p>
        </p:txBody>
      </p:sp>
      <p:sp>
        <p:nvSpPr>
          <p:cNvPr id="331" name="Google Shape;331;p31"/>
          <p:cNvSpPr/>
          <p:nvPr/>
        </p:nvSpPr>
        <p:spPr>
          <a:xfrm>
            <a:off x="581025" y="1127075"/>
            <a:ext cx="57150" cy="581025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/>
          <p:nvPr/>
        </p:nvSpPr>
        <p:spPr>
          <a:xfrm>
            <a:off x="581025" y="2165899"/>
            <a:ext cx="110301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next generation of AI builders will not just use AI.</a:t>
            </a:r>
            <a:endParaRPr b="0" i="0" sz="24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305276" y="2838450"/>
            <a:ext cx="11581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5048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00F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THEY WILL CREATE IT.</a:t>
            </a:r>
            <a:endParaRPr b="1" i="0" sz="3600">
              <a:solidFill>
                <a:srgbClr val="00F5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809625" y="1228725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 ARE ENTERING AT THE PERFECT TIME</a:t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581025" y="1228725"/>
            <a:ext cx="57300" cy="5811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828250" y="3843150"/>
            <a:ext cx="10287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highlight>
                  <a:schemeClr val="dk1"/>
                </a:highlight>
                <a:latin typeface="Outfit"/>
                <a:ea typeface="Outfit"/>
                <a:cs typeface="Outfit"/>
                <a:sym typeface="Outfit"/>
              </a:rPr>
              <a:t>Don't just watch the future happen from the sidelines</a:t>
            </a:r>
            <a:endParaRPr b="1" sz="1800">
              <a:solidFill>
                <a:srgbClr val="F8FAFC"/>
              </a:solidFill>
              <a:highlight>
                <a:schemeClr val="dk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highlight>
                  <a:schemeClr val="dk1"/>
                </a:highlight>
                <a:latin typeface="Outfit"/>
                <a:ea typeface="Outfit"/>
                <a:cs typeface="Outfit"/>
                <a:sym typeface="Outfit"/>
              </a:rPr>
              <a:t>Master the concept, build the brain, and </a:t>
            </a:r>
            <a:r>
              <a:rPr b="1" lang="en-US" sz="1800">
                <a:solidFill>
                  <a:srgbClr val="00F5FF"/>
                </a:solidFill>
                <a:highlight>
                  <a:schemeClr val="dk1"/>
                </a:highlight>
                <a:latin typeface="Outfit"/>
                <a:ea typeface="Outfit"/>
                <a:cs typeface="Outfit"/>
                <a:sym typeface="Outfit"/>
              </a:rPr>
              <a:t>become the architect of the new world.</a:t>
            </a:r>
            <a:endParaRPr b="1" sz="1800">
              <a:solidFill>
                <a:srgbClr val="F8FAFC"/>
              </a:solidFill>
              <a:highlight>
                <a:schemeClr val="dk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