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Outfit ExtraBold"/>
      <p:bold r:id="rId17"/>
    </p:embeddedFont>
    <p:embeddedFont>
      <p:font typeface="Inter"/>
      <p:regular r:id="rId18"/>
      <p:bold r:id="rId19"/>
      <p:italic r:id="rId20"/>
      <p:boldItalic r:id="rId21"/>
    </p:embeddedFont>
    <p:embeddedFont>
      <p:font typeface="Outfit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22" Type="http://schemas.openxmlformats.org/officeDocument/2006/relationships/font" Target="fonts/Outfit-regular.fntdata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utfi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utfitExtraBold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10" Type="http://schemas.openxmlformats.org/officeDocument/2006/relationships/image" Target="../media/image6.png"/><Relationship Id="rId9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29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22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7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Relationship Id="rId10" Type="http://schemas.openxmlformats.org/officeDocument/2006/relationships/image" Target="../media/image6.png"/><Relationship Id="rId9" Type="http://schemas.openxmlformats.org/officeDocument/2006/relationships/image" Target="../media/image21.png"/><Relationship Id="rId5" Type="http://schemas.openxmlformats.org/officeDocument/2006/relationships/image" Target="../media/image32.png"/><Relationship Id="rId6" Type="http://schemas.openxmlformats.org/officeDocument/2006/relationships/image" Target="../media/image20.png"/><Relationship Id="rId7" Type="http://schemas.openxmlformats.org/officeDocument/2006/relationships/image" Target="../media/image30.png"/><Relationship Id="rId8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36.png"/><Relationship Id="rId6" Type="http://schemas.openxmlformats.org/officeDocument/2006/relationships/image" Target="../media/image26.png"/><Relationship Id="rId7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Relationship Id="rId4" Type="http://schemas.openxmlformats.org/officeDocument/2006/relationships/image" Target="../media/image25.png"/><Relationship Id="rId5" Type="http://schemas.openxmlformats.org/officeDocument/2006/relationships/image" Target="../media/image35.png"/><Relationship Id="rId6" Type="http://schemas.openxmlformats.org/officeDocument/2006/relationships/image" Target="../media/image28.png"/><Relationship Id="rId7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4367212"/>
            <a:ext cx="3810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3509962"/>
            <a:ext cx="110299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Building the Blueprint for Production 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2452687"/>
            <a:ext cx="1158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8FAF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The ML Pip</a:t>
            </a:r>
            <a:r>
              <a:rPr lang="en-US" sz="5400">
                <a:solidFill>
                  <a:srgbClr val="F8FAF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e</a:t>
            </a:r>
            <a:r>
              <a:rPr b="0" i="0" lang="en-US" sz="5400" u="none" cap="none" strike="noStrike">
                <a:solidFill>
                  <a:srgbClr val="F8FAF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Line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86050"/>
            <a:ext cx="5229225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23925" y="3952875"/>
            <a:ext cx="4543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Before touching data, we ask: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"What are we trying to predict?"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 it a price (Regression) or a category (Classification)?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30575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715125" y="3263354"/>
            <a:ext cx="48958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Define clear Success Metrics (e.g., 90% Accuracy).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15125" y="3707159"/>
            <a:ext cx="48958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Identify the Target Variable (The goal).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15125" y="4150965"/>
            <a:ext cx="48958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Map out the required Input Features.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381750" y="3263354"/>
            <a:ext cx="1809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381750" y="3707159"/>
            <a:ext cx="1809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381750" y="4150965"/>
            <a:ext cx="1809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STEP 1: THE BLUEPRINT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23925" y="3543300"/>
            <a:ext cx="477059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Problem Framing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00350"/>
            <a:ext cx="348615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800350"/>
            <a:ext cx="348615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800350"/>
            <a:ext cx="3486150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23925" y="4067175"/>
            <a:ext cx="280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SQL Databases, Excel sheets, and CSV files. Clean, row-based records.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95825" y="4067175"/>
            <a:ext cx="280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Images, Text reviews, and Audio files. Heavy lifting required.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67725" y="4067175"/>
            <a:ext cx="280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Sensor data and API feeds that never stop flowing.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317182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5825" y="31718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7725" y="317182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81025" y="581025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STEP 2: </a:t>
            </a:r>
            <a:r>
              <a:rPr b="1" lang="en-US" sz="33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Data Collection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23925" y="3657600"/>
            <a:ext cx="29403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Structured Data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95825" y="3657600"/>
            <a:ext cx="29403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Unstructured Data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67725" y="3657600"/>
            <a:ext cx="29403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Real-time Streams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039475" y="390525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90650"/>
            <a:ext cx="5229225" cy="52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715125" y="3391048"/>
            <a:ext cx="48958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Missing Values: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Do we drop them or fill them with the average?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715125" y="4088159"/>
            <a:ext cx="48958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Outliers: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Removing the "weird" values that skew results.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715125" y="4531965"/>
            <a:ext cx="48958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Encoding: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Turning words like "Green" into numbers like "1".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381750" y="3391048"/>
            <a:ext cx="1809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81750" y="4088159"/>
            <a:ext cx="1809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381750" y="4531965"/>
            <a:ext cx="1809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81025" y="581025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STEP 3: </a:t>
            </a:r>
            <a:r>
              <a:rPr b="1" lang="en-US" sz="33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Data Preprocessing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381750" y="2971948"/>
            <a:ext cx="54906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Data Preprocessing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39475" y="390525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233737"/>
            <a:ext cx="34861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3233737"/>
            <a:ext cx="34861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3233737"/>
            <a:ext cx="348615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81025" y="2624137"/>
            <a:ext cx="11029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Feature Engineering: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This is where the magic happens. We create new "signals" from raw data.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23925" y="4014787"/>
            <a:ext cx="280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Converting a timestamp into "Day of the Week" or "Is it a Holiday?".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695825" y="4014787"/>
            <a:ext cx="280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Ensuring Age (0-100) and Income (0-1,000,000) have equal weight.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467725" y="4014787"/>
            <a:ext cx="2800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Discarding the noise. Does the customer's favorite color actually predict their churn?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81025" y="581025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STEP 4: </a:t>
            </a:r>
            <a:r>
              <a:rPr b="1" lang="en-US" sz="33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Feature Engineering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23925" y="3605212"/>
            <a:ext cx="29403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Extraction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695825" y="3605212"/>
            <a:ext cx="29403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Scaling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467725" y="3605212"/>
            <a:ext cx="29403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Selection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57475"/>
            <a:ext cx="522922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657475"/>
            <a:ext cx="5229225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81025" y="4819650"/>
            <a:ext cx="11029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Rule #1: Never show the exam answers (test data) during study time (training)!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71550" y="3667125"/>
            <a:ext cx="4448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TRAINING SET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71550" y="3857625"/>
            <a:ext cx="4448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"Textbook" the model uses to learn patterns.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772275" y="3667125"/>
            <a:ext cx="4448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TESTING SET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772275" y="3857625"/>
            <a:ext cx="4448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"Final Exam" that the model has never seen before.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06500" y="628650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STEP 5: </a:t>
            </a:r>
            <a:r>
              <a:rPr b="1" lang="en-US" sz="33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Train Test Split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71550" y="3048000"/>
            <a:ext cx="467058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80%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772275" y="3048000"/>
            <a:ext cx="467058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20%</a:t>
            </a:r>
            <a:endParaRPr/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39475" y="390525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58925"/>
            <a:ext cx="5229225" cy="294977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81025" y="3449984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algorithm iterates through the data millions of times, adjusting its internal "weights" until the error is minimized.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284315"/>
            <a:ext cx="14859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09800" y="4284315"/>
            <a:ext cx="13144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67125" y="4284315"/>
            <a:ext cx="9239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STEP 6: THE LEARNING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81025" y="3030884"/>
            <a:ext cx="54906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Model Training</a:t>
            </a:r>
            <a:endParaRPr/>
          </a:p>
        </p:txBody>
      </p:sp>
      <p:pic>
        <p:nvPicPr>
          <p:cNvPr descr="image.png" id="181" name="Google Shape;18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39475" y="390525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186362"/>
            <a:ext cx="1102995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390650"/>
            <a:ext cx="11029950" cy="48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923925" y="5529262"/>
            <a:ext cx="10344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Success Metric: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We don't just look at accuracy. For a bank (Fraud),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Recall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 more important. For a social media app (Filters),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Precision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 key.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STEP 7: THE VERDICT</a:t>
            </a:r>
            <a:endParaRPr/>
          </a:p>
        </p:txBody>
      </p:sp>
      <p:pic>
        <p:nvPicPr>
          <p:cNvPr descr="image.png" id="191" name="Google Shape;19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39475" y="390525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767137"/>
            <a:ext cx="522922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33625"/>
            <a:ext cx="2543175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67800" y="2333625"/>
            <a:ext cx="2543175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905250"/>
            <a:ext cx="2543175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67800" y="3905250"/>
            <a:ext cx="254317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81025" y="3176587"/>
            <a:ext cx="5229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Algorithms have settings that aren't learned from data—we set them manually (e.g., how deep a tree should grow).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923925" y="4110037"/>
            <a:ext cx="4543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Grid Search: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Testing every possible combination of "knobs" to find the peak performance.</a:t>
            </a:r>
            <a:endParaRPr/>
          </a:p>
        </p:txBody>
      </p:sp>
      <p:pic>
        <p:nvPicPr>
          <p:cNvPr descr="image.png" id="204" name="Google Shape;20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3925" y="414813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STEP 8: HYPERPARAMETER TUNING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81025" y="2757487"/>
            <a:ext cx="54906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Control Knobs</a:t>
            </a:r>
            <a:endParaRPr/>
          </a:p>
        </p:txBody>
      </p:sp>
      <p:pic>
        <p:nvPicPr>
          <p:cNvPr descr="image.png" id="207" name="Google Shape;207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039475" y="390525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90650"/>
            <a:ext cx="5229225" cy="5229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929062"/>
            <a:ext cx="522922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6381750" y="3357562"/>
            <a:ext cx="52292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model moves to the cloud as an </a:t>
            </a: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API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 Now, real users can send data and get answers in milliseconds.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724650" y="4271962"/>
            <a:ext cx="4543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 Drift: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Models get "stale" over time as the world changes. Continuous monitoring is mandatory.</a:t>
            </a:r>
            <a:endParaRPr/>
          </a:p>
        </p:txBody>
      </p:sp>
      <p:pic>
        <p:nvPicPr>
          <p:cNvPr descr="image.png" id="217" name="Google Shape;21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3100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STEP 9: DELIVERY &amp; MONITORING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381750" y="2938462"/>
            <a:ext cx="54906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Production Deployment</a:t>
            </a:r>
            <a:endParaRPr/>
          </a:p>
        </p:txBody>
      </p:sp>
      <p:pic>
        <p:nvPicPr>
          <p:cNvPr descr="image.png" id="220" name="Google Shape;22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39475" y="390525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0" y="292893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5200" y="292893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0" y="292893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5300" y="292893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20350" y="29289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2286000" y="4595812"/>
            <a:ext cx="7620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ML is not a "One-and-Done" project. It is a </a:t>
            </a:r>
            <a:r>
              <a:rPr b="1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Living Lifecycle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that improves with every iteration.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2200275" y="3133725"/>
            <a:ext cx="876300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4505325" y="3133725"/>
            <a:ext cx="876300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6810375" y="3133725"/>
            <a:ext cx="876300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9115425" y="3133725"/>
            <a:ext cx="876300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771525" y="3643312"/>
            <a:ext cx="142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Ingest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3076575" y="3643312"/>
            <a:ext cx="142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Prep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5381625" y="3643312"/>
            <a:ext cx="142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Train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7686675" y="3643312"/>
            <a:ext cx="142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Deploy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9991725" y="3643312"/>
            <a:ext cx="142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Monitor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3105626" y="1709737"/>
            <a:ext cx="598074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Pipeline Never Ends</a:t>
            </a:r>
            <a:endParaRPr/>
          </a:p>
        </p:txBody>
      </p:sp>
      <p:pic>
        <p:nvPicPr>
          <p:cNvPr descr="image.png" id="241" name="Google Shape;24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39475" y="390525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