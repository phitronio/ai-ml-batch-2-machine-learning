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Outfit"/>
      <p:regular r:id="rId18"/>
      <p:bold r:id="rId19"/>
    </p:embeddedFont>
    <p:embeddedFont>
      <p:font typeface="Urbanist SemiBold"/>
      <p:regular r:id="rId20"/>
      <p:bold r:id="rId21"/>
      <p:italic r:id="rId22"/>
      <p:boldItalic r:id="rId23"/>
    </p:embeddedFont>
    <p:embeddedFont>
      <p:font typeface="Urbanist Medium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A7D9CA-4E99-475D-A63E-C502EB032A2F}">
  <a:tblStyle styleId="{F2A7D9CA-4E99-475D-A63E-C502EB032A2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regular.fntdata"/><Relationship Id="rId22" Type="http://schemas.openxmlformats.org/officeDocument/2006/relationships/font" Target="fonts/UrbanistSemiBold-italic.fntdata"/><Relationship Id="rId21" Type="http://schemas.openxmlformats.org/officeDocument/2006/relationships/font" Target="fonts/UrbanistSemiBold-bold.fntdata"/><Relationship Id="rId24" Type="http://schemas.openxmlformats.org/officeDocument/2006/relationships/font" Target="fonts/UrbanistMedium-regular.fntdata"/><Relationship Id="rId23" Type="http://schemas.openxmlformats.org/officeDocument/2006/relationships/font" Target="fonts/Urbanist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Medium-italic.fntdata"/><Relationship Id="rId25" Type="http://schemas.openxmlformats.org/officeDocument/2006/relationships/font" Target="fonts/UrbanistMedium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Outfit-bold.fntdata"/><Relationship Id="rId18" Type="http://schemas.openxmlformats.org/officeDocument/2006/relationships/font" Target="fonts/Outfi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1678334"/>
            <a:ext cx="1158144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MACHINE LEARNING 101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2211734"/>
            <a:ext cx="11581447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Teacher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and The Explorer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269134"/>
            <a:ext cx="76200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deep dive into how machines learn through Supervised and Unsupervised</a:t>
            </a:r>
            <a:r>
              <a:rPr lang="en-US" sz="24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way.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524500" y="5694015"/>
            <a:ext cx="1143000" cy="5715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2250" y="4413944"/>
            <a:ext cx="6667500" cy="135999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81025" y="1750814"/>
            <a:ext cx="11029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F5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CHAPTER ONE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305276" y="2261294"/>
            <a:ext cx="11581447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Guided Path: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Supervised Learning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2962275" y="4613969"/>
            <a:ext cx="62674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"Imagine a teacher showing a child flashcards. 'This is an Apple,' the teacher says. The child learns because the answer is already there."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0508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0575" y="3134320"/>
            <a:ext cx="5229225" cy="140583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81025" y="2370534"/>
            <a:ext cx="549068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The "Teacher" Approach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81025" y="2903934"/>
            <a:ext cx="52292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 Supervised Learning, we provide the machine with </a:t>
            </a:r>
            <a:r>
              <a:rPr b="1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Input Data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and the </a:t>
            </a:r>
            <a:r>
              <a:rPr b="1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Correct Labels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81025" y="5330725"/>
            <a:ext cx="522922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goal is for the machine to find the relationship between the inputs and the answers so it can predict future unseen data.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988850" y="3358795"/>
            <a:ext cx="463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Formula: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7000" y="3788900"/>
            <a:ext cx="4638600" cy="2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09625" y="1254025"/>
            <a:ext cx="1134141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LEARNING WITH LABELED DATA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81025" y="1254025"/>
            <a:ext cx="57150" cy="55245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70014"/>
            <a:ext cx="5229225" cy="2803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970014"/>
            <a:ext cx="5229225" cy="28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962025" y="3389114"/>
            <a:ext cx="469058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1. Regression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962025" y="3922514"/>
            <a:ext cx="446722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Predicting Numbers.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Use this when the answer is a specific value on a continuous scale.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62025" y="5072955"/>
            <a:ext cx="446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Question: "How much?" 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762750" y="3389114"/>
            <a:ext cx="469058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2. Classification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762750" y="3922514"/>
            <a:ext cx="446722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Sorting into Buckets.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Use this when the answer is a category or a choice between labels.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762750" y="5072955"/>
            <a:ext cx="4467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Question: "Which group?" or "Is it A or B?"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09625" y="1533525"/>
            <a:ext cx="1134141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TWO TYPES OF GUIDED LEARNING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81025" y="1533525"/>
            <a:ext cx="57150" cy="55245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809625" y="1402258"/>
            <a:ext cx="4950618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REGRESSION: HOUSE PRICES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581025" y="1402258"/>
            <a:ext cx="57150" cy="11049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581025" y="2888158"/>
            <a:ext cx="519064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Real-World Example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81025" y="3421558"/>
            <a:ext cx="494347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Imagine you want to buy a house. You look at its size, location, and age. The AI looks at thousands of past sales and draws a line of "Best Fit."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81025" y="4572000"/>
            <a:ext cx="494347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This "line" allows the AI to predict a </a:t>
            </a:r>
            <a:r>
              <a:rPr b="1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Continuous Number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(e.g., $450,200) for a house that hasn't been sold yet.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87475"/>
            <a:ext cx="52292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581025" y="3377207"/>
            <a:ext cx="549068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The Digital Gatekeeper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81025" y="3910607"/>
            <a:ext cx="52292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Every time an email arrives, an AI must decide: </a:t>
            </a:r>
            <a:r>
              <a:rPr b="1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Spam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or </a:t>
            </a:r>
            <a:r>
              <a:rPr b="1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Inbox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? This is a Classification problem.</a:t>
            </a:r>
            <a:endParaRPr/>
          </a:p>
        </p:txBody>
      </p:sp>
      <p:pic>
        <p:nvPicPr>
          <p:cNvPr descr="image.png" id="144" name="Google Shape;1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97000"/>
            <a:ext cx="52101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581025" y="4741068"/>
            <a:ext cx="52292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Binary:</a:t>
            </a: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Yes or No choice.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81025" y="4922043"/>
            <a:ext cx="52292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Training:</a:t>
            </a: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Fed millions of known spam emails.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581025" y="5103018"/>
            <a:ext cx="52292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Goal:</a:t>
            </a: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Label new mail instantly.</a:t>
            </a:r>
            <a:endParaRPr/>
          </a:p>
        </p:txBody>
      </p:sp>
      <p:pic>
        <p:nvPicPr>
          <p:cNvPr descr="image.png" id="148" name="Google Shape;14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750593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93156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112543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809625" y="1254025"/>
            <a:ext cx="1134141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CLASSIFICATION: SORTING MAIL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81025" y="1254025"/>
            <a:ext cx="57150" cy="55245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49016"/>
            <a:ext cx="3486150" cy="3045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849016"/>
            <a:ext cx="3486150" cy="3045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849016"/>
            <a:ext cx="3486150" cy="304591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903922" y="4011066"/>
            <a:ext cx="284035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Weather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971550" y="4544466"/>
            <a:ext cx="27051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Predicting the exact temperature (Regression).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4675822" y="4011066"/>
            <a:ext cx="284035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Fraud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4743450" y="4544466"/>
            <a:ext cx="27051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Classifying a swipe as 'Fraud' or 'Safe' (Classification).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447722" y="4011066"/>
            <a:ext cx="284035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Health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515350" y="4544466"/>
            <a:ext cx="27051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Diagnosing a scan as 'Benign' or 'Malignant' (Classification).</a:t>
            </a:r>
            <a:endParaRPr/>
          </a:p>
        </p:txBody>
      </p:sp>
      <p:pic>
        <p:nvPicPr>
          <p:cNvPr descr="image.png" id="167" name="Google Shape;16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4062" y="3277641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875" y="327764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1200" y="3277641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809625" y="1533525"/>
            <a:ext cx="1134141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SUPERVISED LEARNING USES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81025" y="1533525"/>
            <a:ext cx="57150" cy="55245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2250" y="4413944"/>
            <a:ext cx="6667500" cy="135999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581025" y="1750814"/>
            <a:ext cx="11029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000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CHAPTER TWO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305276" y="2261294"/>
            <a:ext cx="11581447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7000FF"/>
                </a:solidFill>
                <a:latin typeface="Urbanist"/>
                <a:ea typeface="Urbanist"/>
                <a:cs typeface="Urbanist"/>
                <a:sym typeface="Urbanist"/>
              </a:rPr>
              <a:t>The Explorer: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7000FF"/>
                </a:solidFill>
                <a:latin typeface="Urbanist"/>
                <a:ea typeface="Urbanist"/>
                <a:cs typeface="Urbanist"/>
                <a:sym typeface="Urbanist"/>
              </a:rPr>
              <a:t> Unsupervised Learning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2962275" y="4613969"/>
            <a:ext cx="62674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"Imagine giving a child a box of random LEGOs and saying 'Organize these however you want.' The child discovers their own patterns."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0575" y="2425608"/>
            <a:ext cx="5229225" cy="155049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581025" y="2187475"/>
            <a:ext cx="549068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000FF"/>
                </a:solidFill>
                <a:latin typeface="Outfit"/>
                <a:ea typeface="Outfit"/>
                <a:cs typeface="Outfit"/>
                <a:sym typeface="Outfit"/>
              </a:rPr>
              <a:t>No Teacher. No Labels.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581025" y="2720875"/>
            <a:ext cx="522922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 Unsupervised Learning, the machine looks at raw data and asks: </a:t>
            </a:r>
            <a:r>
              <a:rPr b="1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"What is similar here?"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or </a:t>
            </a:r>
            <a:r>
              <a:rPr b="1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"What is different?"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81025" y="3871317"/>
            <a:ext cx="522922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It doesn't know the names of the groups it creates; it just knows that the objects in those groups belong together.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988875" y="2568483"/>
            <a:ext cx="463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Main Task: Clustering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6988838" y="3040864"/>
            <a:ext cx="4638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Grouping data points based on hidden similarities.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809625" y="1254025"/>
            <a:ext cx="1134141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LEARNING BY DISCOVERY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81025" y="1254025"/>
            <a:ext cx="57150" cy="55245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809625" y="1912739"/>
            <a:ext cx="495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7000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CLUSTERING: RETAIL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581025" y="1912739"/>
            <a:ext cx="57300" cy="552600"/>
          </a:xfrm>
          <a:prstGeom prst="rect">
            <a:avLst/>
          </a:prstGeom>
          <a:solidFill>
            <a:srgbClr val="7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581025" y="2846189"/>
            <a:ext cx="519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Real-World Example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81025" y="3379589"/>
            <a:ext cx="49434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shopping mall wants to know its customers better. They don't have "labels" for them.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581025" y="4210050"/>
            <a:ext cx="49434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AI analyzes spending habits and discovers three clusters: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676275" y="4978598"/>
            <a:ext cx="9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771525" y="4992885"/>
            <a:ext cx="475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Group A: Young, tech-heavy spenders.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676275" y="5159573"/>
            <a:ext cx="9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771525" y="5173860"/>
            <a:ext cx="475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Group B: Weekly grocery shoppers.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76275" y="5340548"/>
            <a:ext cx="9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771525" y="5354835"/>
            <a:ext cx="475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Group C: Occasional high-luxury buyers.</a:t>
            </a:r>
            <a:endParaRPr/>
          </a:p>
        </p:txBody>
      </p:sp>
      <p:pic>
        <p:nvPicPr>
          <p:cNvPr descr="A high-tech retail store interior with glowing blue and purple neon accents, featuring sleek displays of futuristic gadgets, laptops, and smartphones. The atmosphere is modern, clean, and professional, perfectly reflecting a high-end tech shopping experience.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6687" r="6687" t="0"/>
          <a:stretch/>
        </p:blipFill>
        <p:spPr>
          <a:xfrm>
            <a:off x="6477000" y="1905000"/>
            <a:ext cx="5133900" cy="3333900"/>
          </a:xfrm>
          <a:prstGeom prst="roundRect">
            <a:avLst>
              <a:gd fmla="val 571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6" name="Google Shape;216;p23"/>
          <p:cNvGraphicFramePr/>
          <p:nvPr/>
        </p:nvGraphicFramePr>
        <p:xfrm>
          <a:off x="581025" y="2900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{F2A7D9CA-4E99-475D-A63E-C502EB032A2F}</a:tableStyleId>
              </a:tblPr>
              <a:tblGrid>
                <a:gridCol w="2071975"/>
                <a:gridCol w="4315275"/>
                <a:gridCol w="4642700"/>
              </a:tblGrid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Supervised (Teacher)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Unsupervised (Explorer)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Labeled (Tags/Answers)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Unlabeled (Raw/No Answers)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Goal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Predict specific output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Find hidden structures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Feedback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Direct (Correct/Incorrect)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None (Independent)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Tasks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Regression &amp; Classification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Clustering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7" name="Google Shape;217;p23"/>
          <p:cNvSpPr/>
          <p:nvPr/>
        </p:nvSpPr>
        <p:spPr>
          <a:xfrm>
            <a:off x="581025" y="3529012"/>
            <a:ext cx="2071985" cy="1905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2653010" y="3529012"/>
            <a:ext cx="4315271" cy="1905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6968281" y="3529012"/>
            <a:ext cx="4642693" cy="1905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581025" y="4162425"/>
            <a:ext cx="20719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2653010" y="4162425"/>
            <a:ext cx="43152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6968281" y="4162425"/>
            <a:ext cx="464269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581025" y="4781550"/>
            <a:ext cx="20719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2653010" y="4781550"/>
            <a:ext cx="43152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6968281" y="4781550"/>
            <a:ext cx="464269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81025" y="5400675"/>
            <a:ext cx="20719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2653010" y="5400675"/>
            <a:ext cx="43152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6968281" y="5400675"/>
            <a:ext cx="464269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581025" y="6019800"/>
            <a:ext cx="20719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2653010" y="6019800"/>
            <a:ext cx="43152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6968281" y="6019800"/>
            <a:ext cx="464269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809625" y="1533525"/>
            <a:ext cx="1134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CHOOSING YOUR </a:t>
            </a:r>
            <a:r>
              <a:rPr lang="en-US" sz="360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Algorithm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81025" y="1533525"/>
            <a:ext cx="57150" cy="55245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