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952500" y="495300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190386" y="2447925"/>
            <a:ext cx="981122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Normal Distribution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67075" y="3571875"/>
            <a:ext cx="56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Beginner’s Guide to the Bell Curve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352925"/>
            <a:ext cx="952500" cy="5715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01763"/>
            <a:ext cx="5238750" cy="33591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 Normal Distribution?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43063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Often called the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Bell Curve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it is a symmetric probability distribution where most observations cluster around the central peak.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976538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Think of it as the "Natural Law" of data—it appears everywhere, from heights and IQ scores to error measurement.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01763"/>
            <a:ext cx="5238750" cy="33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Core Properties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Symmetry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384810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left side is a perfect mirror image of the right. There is no "skew" to either side.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40324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Center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740324" y="3848100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Mean, Median, and Mode are all exactly the same value at the center of the curve.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18624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Total Area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18624" y="384810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total area under the curve is always equal to 1.0 (or 100% of all possible data points).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95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324" y="2695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624" y="26955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614017"/>
            <a:ext cx="5238750" cy="25346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"Center": Role of the Mean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2685901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Mean (μ)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acts as the anchor of the distribution. It tells us exactly where the peak of the curve is located on the horizontal axis.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3819376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Changing the Mean: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133701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Increasing the mean shifts the entire curve to the right. Decreasing it shifts it to the left. The shape remains identical!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14017"/>
            <a:ext cx="5238750" cy="2534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"Spread": Standard Deviation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76200" cy="12382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310515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Deviation (σ)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determines the width and height of the curve.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387667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Small σ: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is tightly packed around the mean. The curve looks tall and skinny.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6482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Large σ: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is widely spread out. The curve looks short and fat.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295275" y="2124075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The Empirical Rule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286000" y="3171825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Also known as the 68-95-99.7 Rule, this tells us exactly how much data sits within specific distances from the center.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66950"/>
            <a:ext cx="3492549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Predictable Percentages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962025" y="2657475"/>
            <a:ext cx="27114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68%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962025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Within 1 σ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62025" y="384810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Nearly two-thirds of all data points fall within one standard deviation of the mean.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740324" y="2657475"/>
            <a:ext cx="27114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95%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740324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Within 2 σ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740324" y="3848100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vast majority—95%—of data points fall within two standard deviations.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518624" y="2657475"/>
            <a:ext cx="27114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99.7%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518624" y="3305175"/>
            <a:ext cx="284707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Within 3 σ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518624" y="3848100"/>
            <a:ext cx="271149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Almost all data (99.7%) is captured within three standard deviations. Outliers are rare!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1824037"/>
            <a:ext cx="60960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3702992"/>
            <a:ext cx="1138237" cy="82361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Standardizing with Z-Scores</a:t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3214687"/>
            <a:ext cx="7905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Z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1743075" y="3557587"/>
            <a:ext cx="1809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Standard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Score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334000" y="2788592"/>
            <a:ext cx="6286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Z-score tells us exactly how many standard deviations a data point is from the mean.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334000" y="4717107"/>
            <a:ext cx="6286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Positive Z-scores are above average; negative scores are below average.</a:t>
            </a:r>
            <a:endParaRPr/>
          </a:p>
        </p:txBody>
      </p:sp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3988742"/>
            <a:ext cx="566737" cy="252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to Calculate a Z-Score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24765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Scenario: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 scored 1200 on an exam where the Mean (μ) is 1000 and the SD (σ) is 100.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000125" y="307657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Find the difference from the mean (1200 - 1000 = 200).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000125" y="362902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Divide by the standard deviation (200 / 100 = 2).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000125" y="418147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Result: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Your Z-score is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2.0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You are exactly 2 standard deviations above the mean!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000125" y="473392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According to the Empirical Rule, you performed better than 97.5% of people.</a:t>
            </a:r>
            <a:endParaRPr/>
          </a:p>
        </p:txBody>
      </p:sp>
      <p:pic>
        <p:nvPicPr>
          <p:cNvPr descr="image.png"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14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671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19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7720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30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Interquartile Range (IQR)</a:t>
            </a:r>
            <a:endParaRPr b="0" sz="3300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571500" y="1524000"/>
            <a:ext cx="60960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IQR</a:t>
            </a:r>
            <a:r>
              <a:rPr b="0"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measures the "Middle 50%" of your data—from the 25th percentile (Q1) to the 75th percentile (Q3).</a:t>
            </a:r>
            <a:endParaRPr b="0" sz="16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71500" y="2476500"/>
            <a:ext cx="2952900" cy="1714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3714750" y="2476500"/>
            <a:ext cx="2952900" cy="171450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762000" y="2667000"/>
            <a:ext cx="2571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Q1 &amp; Q3</a:t>
            </a:r>
            <a:endParaRPr b="1" sz="1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762000" y="3048000"/>
            <a:ext cx="2571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normal data, Q1 is approximately μ - 0.6745σ and Q3 is μ + 0.6745σ.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3905250" y="2667000"/>
            <a:ext cx="2571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IQR Calculation</a:t>
            </a:r>
            <a:endParaRPr b="1" sz="18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3905250" y="3048000"/>
            <a:ext cx="25719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IQR = Q3 - Q1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IQR is approximately 1.349 × Standard Deviation (σ).</a:t>
            </a:r>
            <a:endParaRPr b="0" sz="13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450" y="1769563"/>
            <a:ext cx="5219550" cy="3234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